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ontserrat"/>
              </a:defRPr>
            </a:pPr>
            <a:r>
              <a:t>Collecte &amp; Analyse</a:t>
            </a:r>
            <a:br/>
            <a:r>
              <a:t>Intelligente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Des données comportementales pour des décisions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Montserrat"/>
              </a:defRPr>
            </a:pPr>
            <a:r>
              <a:t>EN TUNISIE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1371600" cy="45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ontserrat"/>
              </a:defRPr>
            </a:pPr>
            <a:r>
              <a:t>Notre Équipe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560320"/>
            <a:ext cx="1645920" cy="164592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Montserrat"/>
              </a:defRPr>
            </a:pPr>
            <a:r>
              <a:t>Mohamed Louai</a:t>
            </a:r>
            <a:br/>
            <a:r>
              <a:t>DARGUECH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ontserrat"/>
              </a:defRPr>
            </a:pPr>
            <a:r>
              <a:t>DATA &amp; ANALYTICS</a:t>
            </a:r>
          </a:p>
        </p:txBody>
      </p:sp>
      <p:sp>
        <p:nvSpPr>
          <p:cNvPr id="11" name="Oval 10"/>
          <p:cNvSpPr/>
          <p:nvPr/>
        </p:nvSpPr>
        <p:spPr>
          <a:xfrm>
            <a:off x="5266944" y="2560320"/>
            <a:ext cx="1645920" cy="1645920"/>
          </a:xfrm>
          <a:prstGeom prst="ellipse">
            <a:avLst/>
          </a:prstGeom>
          <a:solidFill>
            <a:srgbClr val="0A0A0A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4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Montserrat"/>
              </a:defRPr>
            </a:pPr>
            <a:r>
              <a:t>Mohamed</a:t>
            </a:r>
            <a:br/>
            <a:r>
              <a:t>AYEDI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ontserrat"/>
              </a:defRPr>
            </a:pPr>
            <a:r>
              <a:t>TECH &amp; IA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0" y="2560320"/>
            <a:ext cx="1645920" cy="1645920"/>
          </a:xfrm>
          <a:prstGeom prst="ellipse">
            <a:avLst/>
          </a:prstGeom>
          <a:solidFill>
            <a:srgbClr val="2D2D2D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Montserrat"/>
              </a:defRPr>
            </a:pPr>
            <a:r>
              <a:t>Saif Edin</a:t>
            </a:r>
            <a:br/>
            <a:r>
              <a:t>HSAIRI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ontserrat"/>
              </a:defRPr>
            </a:pPr>
            <a:r>
              <a:t>BUSINESS &amp; STRATÉGIE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C41E3A"/>
                </a:solidFill>
                <a:latin typeface="Montserrat"/>
              </a:defRPr>
            </a:pPr>
            <a:r>
              <a:t>97%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ontserrat"/>
              </a:defRPr>
            </a:pPr>
            <a:r>
              <a:t>des données comportementales tunisiennes</a:t>
            </a:r>
            <a:br/>
            <a:r>
              <a:t>sont inexploitées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320040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ontserrat"/>
              </a:defRPr>
            </a:pPr>
            <a: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Fragmentées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ontserrat"/>
              </a:defRPr>
            </a:pPr>
            <a:r>
              <a:t>Données dispersées sur multiples sources sans interconnexion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931920"/>
            <a:ext cx="320040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ontserrat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Inaccessibles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ontserrat"/>
              </a:defRPr>
            </a:pPr>
            <a:r>
              <a:t>Difficiles à collecter et à structurer pour l'analyse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20040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ontserrat"/>
              </a:defRPr>
            </a:pPr>
            <a: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Sans Valeur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ontserrat"/>
              </a:defRPr>
            </a:pPr>
            <a:r>
              <a:t>Rarement transformées en insights actionnables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CCCC"/>
                </a:solidFill>
                <a:latin typeface="Montserrat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Notre Solution</a:t>
            </a:r>
          </a:p>
        </p:txBody>
      </p:sp>
      <p:sp>
        <p:nvSpPr>
          <p:cNvPr id="5" name="Oval 4"/>
          <p:cNvSpPr/>
          <p:nvPr/>
        </p:nvSpPr>
        <p:spPr>
          <a:xfrm>
            <a:off x="5266944" y="256032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66944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1E3A"/>
                </a:solidFill>
                <a:latin typeface="Montserrat"/>
              </a:defRPr>
            </a:pPr>
            <a:r>
              <a:t>3SG</a:t>
            </a:r>
            <a:br/>
            <a:r>
              <a:t>PLATFORM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0175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Collecte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CCC"/>
                </a:solidFill>
                <a:latin typeface="Montserrat"/>
              </a:defRPr>
            </a:pPr>
            <a:r>
              <a:t>Multi-sources automatisées en temps réel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13716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005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640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CCC"/>
                </a:solidFill>
                <a:latin typeface="Montserrat"/>
              </a:defRPr>
            </a:pPr>
            <a:r>
              <a:t>IA par gouvernorat, produit et tendance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0" y="30175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CCC"/>
                </a:solidFill>
                <a:latin typeface="Montserrat"/>
              </a:defRPr>
            </a:pPr>
            <a:r>
              <a:t>Agent IA natif dialecte tunisien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246120"/>
            <a:ext cx="2980944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1828800"/>
            <a:ext cx="27432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2864" y="3246120"/>
            <a:ext cx="3419856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CCC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CCCC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ontserrat"/>
              </a:defRPr>
            </a:pPr>
            <a:r>
              <a:t>Pourquoi Nous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2103120" cy="2926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8760" y="2834640"/>
            <a:ext cx="914400" cy="91440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🇹🇳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0A"/>
                </a:solidFill>
                <a:latin typeface="Montserrat"/>
              </a:defRPr>
            </a:pPr>
            <a:r>
              <a:t>100%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Infrastructure hébergée en Tunisie, données sécurisées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560320"/>
            <a:ext cx="2103120" cy="2926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2834640"/>
            <a:ext cx="914400" cy="91440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0A"/>
                </a:solidFill>
                <a:latin typeface="Montserrat"/>
              </a:defRPr>
            </a:pPr>
            <a:r>
              <a:t>Coût Réduit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97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Zéro dépendance externe, prix compétitif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2103120" cy="2926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95160" y="2834640"/>
            <a:ext cx="914400" cy="91440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0A"/>
                </a:solidFill>
                <a:latin typeface="Montserrat"/>
              </a:defRPr>
            </a:pPr>
            <a:r>
              <a:t>Temps Réel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Dashboard actualisé en continu, pas de délais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60320"/>
            <a:ext cx="2103120" cy="2926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38360" y="2834640"/>
            <a:ext cx="914400" cy="91440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🗣️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0A"/>
                </a:solidFill>
                <a:latin typeface="Montserrat"/>
              </a:defRPr>
            </a:pPr>
            <a:r>
              <a:t>Darija Native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297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Agent IA conçu pour le dialecte tunisien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Avantage Concurrentiel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228600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Critère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103120"/>
            <a:ext cx="2286000" cy="457200"/>
          </a:xfrm>
          <a:prstGeom prst="rect">
            <a:avLst/>
          </a:prstGeom>
          <a:solidFill>
            <a:srgbClr val="1A1A1A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103120"/>
            <a:ext cx="228600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Importé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2103120"/>
            <a:ext cx="228600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Manuel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5176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Langue Tunisienne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651760"/>
            <a:ext cx="2286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41E3A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65176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65176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29184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Coût d'Accès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291840"/>
            <a:ext cx="2286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41E3A"/>
                </a:solidFill>
                <a:latin typeface="Montserrat"/>
              </a:defRPr>
            </a:pPr>
            <a:r>
              <a:t>✓ Bas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29184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✗ Élevé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9184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✗ Modéré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93192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Temps Réel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931920"/>
            <a:ext cx="2286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41E3A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93192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93192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571999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7091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Souveraineté Données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571999"/>
            <a:ext cx="2286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47091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41E3A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571999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47091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4571999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7091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21208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Scalabilité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5212080"/>
            <a:ext cx="2286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41E3A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521208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5212080"/>
            <a:ext cx="22860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ontserrat"/>
              </a:defRPr>
            </a:pPr>
            <a:r>
              <a:t>Business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ontserrat"/>
              </a:defRPr>
            </a:pPr>
            <a: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Montserrat"/>
              </a:defRPr>
            </a:pPr>
            <a:r>
              <a:t>SaaS Entreprises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1E3A"/>
                </a:solidFill>
                <a:latin typeface="Montserrat"/>
              </a:defRPr>
            </a:pPr>
            <a:r>
              <a:t>299€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t>/mois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76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Dashboard analytics complet, rapports personnalisés, support prioritaire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86000"/>
            <a:ext cx="3200400" cy="32004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ontserrat"/>
              </a:defRPr>
            </a:pPr>
            <a: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Montserrat"/>
              </a:defRPr>
            </a:pPr>
            <a:r>
              <a:t>Freemium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66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1E3A"/>
                </a:solidFill>
                <a:latin typeface="Montserrat"/>
              </a:defRPr>
            </a:pPr>
            <a:r>
              <a:t>0€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t> à 49€/mois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2976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Agent Tchati.ai pour PME et grand public, fonctionnalités premium débloquables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286000"/>
            <a:ext cx="3200400" cy="32004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ontserrat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Montserrat"/>
              </a:defRPr>
            </a:pPr>
            <a:r>
              <a:t>Insights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3566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1E3A"/>
                </a:solidFill>
                <a:latin typeface="Montserrat"/>
              </a:defRPr>
            </a:pPr>
            <a:r>
              <a:t>Sur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931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ontserrat"/>
              </a:defRPr>
            </a:pPr>
            <a:r>
              <a:t> devis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976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Études sectorielles personnalisées, consulting data, rapports stratégiques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Démo : Dashboard 3SG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486400" cy="384048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4A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194560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219456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194560"/>
            <a:ext cx="137160" cy="137160"/>
          </a:xfrm>
          <a:prstGeom prst="ellipse">
            <a:avLst/>
          </a:prstGeom>
          <a:solidFill>
            <a:srgbClr val="28C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3SG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Tunisie · Temps réel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560320"/>
            <a:ext cx="1554480" cy="82296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1E3A"/>
                </a:solidFill>
                <a:latin typeface="Montserrat"/>
              </a:defRPr>
            </a:pPr>
            <a:r>
              <a:t>24.5K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175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ontserrat"/>
              </a:defRPr>
            </a:pPr>
            <a:r>
              <a:t>Avis collectés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560320"/>
            <a:ext cx="1554480" cy="82296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1E3A"/>
                </a:solidFill>
                <a:latin typeface="Montserrat"/>
              </a:defRPr>
            </a:pPr>
            <a: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175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ontserrat"/>
              </a:defRPr>
            </a:pPr>
            <a:r>
              <a:t>Gouvernorats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560320"/>
            <a:ext cx="1554480" cy="82296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1E3A"/>
                </a:solidFill>
                <a:latin typeface="Montserrat"/>
              </a:defRPr>
            </a:pPr>
            <a:r>
              <a:t>+12%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175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ontserrat"/>
              </a:defRPr>
            </a:pPr>
            <a:r>
              <a:t>Tendance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566160"/>
            <a:ext cx="4754880" cy="182880"/>
          </a:xfrm>
          <a:prstGeom prst="round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88720" y="3840480"/>
            <a:ext cx="3657600" cy="182880"/>
          </a:xfrm>
          <a:prstGeom prst="round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88720" y="4114800"/>
            <a:ext cx="2560320" cy="182880"/>
          </a:xfrm>
          <a:prstGeom prst="round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4480560"/>
            <a:ext cx="4754880" cy="1188720"/>
          </a:xfrm>
          <a:prstGeom prst="round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5303520"/>
            <a:ext cx="54864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5029200"/>
            <a:ext cx="548640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4754880"/>
            <a:ext cx="548640" cy="914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5120640"/>
            <a:ext cx="548640" cy="5486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846320"/>
            <a:ext cx="548640" cy="8229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0" y="23774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Vue d'ensemble temps réel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KPIs principaux actualisés en continu sur toute la Tunisie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32918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Filtrage par gouvernorat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Analyse géolocalisée des comportements et tendances locales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42062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Analyse par produit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Tracking des avis et satisfaction par catégorie de produit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0" y="51206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Tendances comportementales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Identification automatique des évolutions du marché tunisien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  <a:latin typeface="Montserrat"/>
              </a:defRPr>
            </a:pPr>
            <a:r>
              <a:t>Démo : Tchati.ai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4572000" cy="384048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148840"/>
            <a:ext cx="365760" cy="36576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Montserrat"/>
              </a:defRPr>
            </a:pPr>
            <a:r>
              <a:t>Tchati.ai</a:t>
            </a:r>
          </a:p>
        </p:txBody>
      </p:sp>
      <p:sp>
        <p:nvSpPr>
          <p:cNvPr id="11" name="Oval 10"/>
          <p:cNvSpPr/>
          <p:nvPr/>
        </p:nvSpPr>
        <p:spPr>
          <a:xfrm>
            <a:off x="1691640" y="2377440"/>
            <a:ext cx="91440" cy="914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3317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ontserrat"/>
              </a:defRPr>
            </a:pPr>
            <a:r>
              <a:t>En ligne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834640"/>
            <a:ext cx="2926080" cy="54864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Chnouwa nhar hedha el meilleur produit fi Tunis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520440"/>
            <a:ext cx="3657600" cy="82296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611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0A0A"/>
                </a:solidFill>
                <a:latin typeface="Montserrat"/>
              </a:defRPr>
            </a:pPr>
            <a:r>
              <a:t>Selon les avis temps réel de ce jour, le produit le plus mentionné positivement est le couscous artisanal de Nabeul avec 94% de satisfaction.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480560"/>
            <a:ext cx="2651760" cy="45720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Wi, w chnowa les tendances cette semaine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074920"/>
            <a:ext cx="3657600" cy="9144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0A0A"/>
                </a:solidFill>
                <a:latin typeface="Montserrat"/>
              </a:defRPr>
            </a:pPr>
            <a:r>
              <a:t>📈 Tendance haussière sur les produits bio (+23%)</a:t>
            </a:r>
            <a:br/>
            <a:r>
              <a:t>📉 Baisse sur les importés électroniques (-8%)</a:t>
            </a:r>
            <a:br/>
            <a:r>
              <a:t>💡 Opportunité : artisanat local en forte demande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6126480"/>
            <a:ext cx="4206240" cy="36576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6172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Écrivez en darija...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6172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41E3A"/>
                </a:solidFill>
                <a:latin typeface="Montserrat"/>
              </a:defRPr>
            </a:pPr>
            <a:r>
              <a:t>➤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23774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Montserrat"/>
              </a:defRPr>
            </a:pPr>
            <a:r>
              <a:t>Compréhension du dialecte tunisien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Agent IA entraîné sur le darija natif, pas une traduction approximative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32918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Montserrat"/>
              </a:defRPr>
            </a:pPr>
            <a:r>
              <a:t>RAG contextuel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Réponses basées sur les données réelles collectées, pas du générique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42062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Montserrat"/>
              </a:defRPr>
            </a:pPr>
            <a:r>
              <a:t>Opportunité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Chaque interaction génère un insight exploitable pour les entreprises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0" y="5120640"/>
            <a:ext cx="109728" cy="109728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Montserrat"/>
              </a:defRPr>
            </a:pPr>
            <a:r>
              <a:t>Pont analytics →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Synchronisation temps réel entre le dashboard et l'agent conversationnel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00400"/>
            <a:ext cx="85340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3063240"/>
            <a:ext cx="274320" cy="274320"/>
          </a:xfrm>
          <a:prstGeom prst="ellipse">
            <a:avLst/>
          </a:prstGeom>
          <a:solidFill>
            <a:srgbClr val="C41E3A"/>
          </a:solidFill>
          <a:ln w="508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Lancement 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931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Dashboard 3SG + collecte multi-sources sur 5 gouvernorats pilotes</a:t>
            </a:r>
          </a:p>
        </p:txBody>
      </p:sp>
      <p:sp>
        <p:nvSpPr>
          <p:cNvPr id="10" name="Oval 9"/>
          <p:cNvSpPr/>
          <p:nvPr/>
        </p:nvSpPr>
        <p:spPr>
          <a:xfrm>
            <a:off x="5632704" y="3063240"/>
            <a:ext cx="274320" cy="274320"/>
          </a:xfrm>
          <a:prstGeom prst="ellipse">
            <a:avLst/>
          </a:prstGeom>
          <a:solidFill>
            <a:srgbClr val="C41E3A"/>
          </a:solidFill>
          <a:ln w="508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4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Tchati.ai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1184" y="3931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Déploiement agent IA darija, couverture nationale 24 gouvernorats</a:t>
            </a:r>
          </a:p>
        </p:txBody>
      </p:sp>
      <p:sp>
        <p:nvSpPr>
          <p:cNvPr id="14" name="Oval 13"/>
          <p:cNvSpPr/>
          <p:nvPr/>
        </p:nvSpPr>
        <p:spPr>
          <a:xfrm>
            <a:off x="8988552" y="3063240"/>
            <a:ext cx="274320" cy="274320"/>
          </a:xfrm>
          <a:prstGeom prst="ellipse">
            <a:avLst/>
          </a:prstGeom>
          <a:solidFill>
            <a:srgbClr val="C41E3A"/>
          </a:solidFill>
          <a:ln w="508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1E3A"/>
                </a:solidFill>
                <a:latin typeface="Montserrat"/>
              </a:defRPr>
            </a:pPr>
            <a: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3931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ontserrat"/>
              </a:defRPr>
            </a:pPr>
            <a:r>
              <a:t>Maghreb (Algérie, Maroc), partenariats stratégiques, levée de fonds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CCCC"/>
                </a:solidFill>
                <a:latin typeface="Montserrat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Notre Demande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CCC"/>
                </a:solidFill>
                <a:latin typeface="Montserrat"/>
              </a:defRPr>
            </a:pPr>
            <a:r>
              <a:t>INVESTISSEMENT RECHERCHÉ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ontserrat"/>
              </a:defRPr>
            </a:pPr>
            <a:r>
              <a:t>150K€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Pour 18% du capital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32004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Montserrat"/>
              </a:defRPr>
            </a:pPr>
            <a:r>
              <a:t>40%  Tech &amp; Développement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108960"/>
            <a:ext cx="2560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Montserrat"/>
              </a:defRPr>
            </a:pPr>
            <a:r>
              <a:t>30%  Acquisition Clients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Montserrat"/>
              </a:defRPr>
            </a:pPr>
            <a:r>
              <a:t>20%  Équipe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754880"/>
            <a:ext cx="10972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Montserrat"/>
              </a:defRPr>
            </a:pPr>
            <a:r>
              <a:t>10%  Opérations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CCC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CCCC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3SG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66666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371600" cy="45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ontserrat"/>
              </a:defRPr>
            </a:pPr>
            <a:r>
              <a:t>Les données tunisiennes</a:t>
            </a:r>
            <a:br/>
            <a:r>
              <a:t>méritent une intelligence</a:t>
            </a:r>
            <a:br/>
            <a:r>
              <a:t>tunisienne.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t>contact@3sg-group.tn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Montserrat"/>
              </a:defRPr>
            </a:pPr>
            <a:r>
              <a:t>MERCI POUR VOTRE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Compétition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ontserrat"/>
              </a:defRPr>
            </a:pPr>
            <a:r>
              <a:t>3SG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